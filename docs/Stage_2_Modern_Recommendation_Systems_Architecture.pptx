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embeddedFontLst>
    <p:embeddedFont>
      <p:font typeface="Roboto ExtraBold"/>
      <p:bold r:id="rId25"/>
      <p:boldItalic r:id="rId26"/>
    </p:embeddedFont>
    <p:embeddedFont>
      <p:font typeface="Inter SemiBold"/>
      <p:regular r:id="rId27"/>
      <p:bold r:id="rId28"/>
      <p:italic r:id="rId29"/>
      <p:boldItalic r:id="rId30"/>
    </p:embeddedFont>
    <p:embeddedFont>
      <p:font typeface="Roboto"/>
      <p:regular r:id="rId31"/>
      <p:bold r:id="rId32"/>
      <p:italic r:id="rId33"/>
      <p:boldItalic r:id="rId34"/>
    </p:embeddedFont>
    <p:embeddedFont>
      <p:font typeface="Inter"/>
      <p:regular r:id="rId35"/>
      <p:bold r:id="rId36"/>
      <p:italic r:id="rId37"/>
      <p:boldItalic r:id="rId38"/>
    </p:embeddedFont>
    <p:embeddedFont>
      <p:font typeface="Inter ExtraBold"/>
      <p:bold r:id="rId39"/>
      <p:boldItalic r:id="rId40"/>
    </p:embeddedFont>
    <p:embeddedFont>
      <p:font typeface="Roboto SemiBold"/>
      <p:regular r:id="rId41"/>
      <p:bold r:id="rId42"/>
      <p:italic r:id="rId43"/>
      <p:boldItalic r:id="rId44"/>
    </p:embeddedFont>
    <p:embeddedFont>
      <p:font typeface="Inter Medium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EBA1FE-682A-4ED1-B0BA-56CC9D6B8CC2}">
  <a:tblStyle styleId="{94EBA1FE-682A-4ED1-B0BA-56CC9D6B8CC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ExtraBold-boldItalic.fntdata"/><Relationship Id="rId20" Type="http://schemas.openxmlformats.org/officeDocument/2006/relationships/slide" Target="slides/slide14.xml"/><Relationship Id="rId42" Type="http://schemas.openxmlformats.org/officeDocument/2006/relationships/font" Target="fonts/RobotoSemiBold-bold.fntdata"/><Relationship Id="rId41" Type="http://schemas.openxmlformats.org/officeDocument/2006/relationships/font" Target="fonts/RobotoSemiBold-regular.fntdata"/><Relationship Id="rId22" Type="http://schemas.openxmlformats.org/officeDocument/2006/relationships/slide" Target="slides/slide16.xml"/><Relationship Id="rId44" Type="http://schemas.openxmlformats.org/officeDocument/2006/relationships/font" Target="fonts/RobotoSemiBold-boldItalic.fntdata"/><Relationship Id="rId21" Type="http://schemas.openxmlformats.org/officeDocument/2006/relationships/slide" Target="slides/slide15.xml"/><Relationship Id="rId43" Type="http://schemas.openxmlformats.org/officeDocument/2006/relationships/font" Target="fonts/RobotoSemiBold-italic.fntdata"/><Relationship Id="rId24" Type="http://schemas.openxmlformats.org/officeDocument/2006/relationships/slide" Target="slides/slide18.xml"/><Relationship Id="rId46" Type="http://schemas.openxmlformats.org/officeDocument/2006/relationships/font" Target="fonts/InterMedium-bold.fntdata"/><Relationship Id="rId23" Type="http://schemas.openxmlformats.org/officeDocument/2006/relationships/slide" Target="slides/slide17.xml"/><Relationship Id="rId45" Type="http://schemas.openxmlformats.org/officeDocument/2006/relationships/font" Target="fonts/Inter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ExtraBold-boldItalic.fntdata"/><Relationship Id="rId48" Type="http://schemas.openxmlformats.org/officeDocument/2006/relationships/font" Target="fonts/InterMedium-boldItalic.fntdata"/><Relationship Id="rId25" Type="http://schemas.openxmlformats.org/officeDocument/2006/relationships/font" Target="fonts/RobotoExtraBold-bold.fntdata"/><Relationship Id="rId47" Type="http://schemas.openxmlformats.org/officeDocument/2006/relationships/font" Target="fonts/InterMedium-italic.fntdata"/><Relationship Id="rId28" Type="http://schemas.openxmlformats.org/officeDocument/2006/relationships/font" Target="fonts/InterSemiBold-bold.fntdata"/><Relationship Id="rId27" Type="http://schemas.openxmlformats.org/officeDocument/2006/relationships/font" Target="fonts/Inter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regular.fntdata"/><Relationship Id="rId30" Type="http://schemas.openxmlformats.org/officeDocument/2006/relationships/font" Target="fonts/InterSemiBold-boldItalic.fntdata"/><Relationship Id="rId11" Type="http://schemas.openxmlformats.org/officeDocument/2006/relationships/slide" Target="slides/slide5.xml"/><Relationship Id="rId33" Type="http://schemas.openxmlformats.org/officeDocument/2006/relationships/font" Target="fonts/Roboto-italic.fntdata"/><Relationship Id="rId10" Type="http://schemas.openxmlformats.org/officeDocument/2006/relationships/slide" Target="slides/slide4.xml"/><Relationship Id="rId32" Type="http://schemas.openxmlformats.org/officeDocument/2006/relationships/font" Target="fonts/Roboto-bold.fntdata"/><Relationship Id="rId13" Type="http://schemas.openxmlformats.org/officeDocument/2006/relationships/slide" Target="slides/slide7.xml"/><Relationship Id="rId35" Type="http://schemas.openxmlformats.org/officeDocument/2006/relationships/font" Target="fonts/Inter-regular.fntdata"/><Relationship Id="rId12" Type="http://schemas.openxmlformats.org/officeDocument/2006/relationships/slide" Target="slides/slide6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9.xml"/><Relationship Id="rId37" Type="http://schemas.openxmlformats.org/officeDocument/2006/relationships/font" Target="fonts/Inter-italic.fntdata"/><Relationship Id="rId14" Type="http://schemas.openxmlformats.org/officeDocument/2006/relationships/slide" Target="slides/slide8.xml"/><Relationship Id="rId36" Type="http://schemas.openxmlformats.org/officeDocument/2006/relationships/font" Target="fonts/Inter-bold.fntdata"/><Relationship Id="rId17" Type="http://schemas.openxmlformats.org/officeDocument/2006/relationships/slide" Target="slides/slide11.xml"/><Relationship Id="rId39" Type="http://schemas.openxmlformats.org/officeDocument/2006/relationships/font" Target="fonts/InterExtraBold-bold.fntdata"/><Relationship Id="rId16" Type="http://schemas.openxmlformats.org/officeDocument/2006/relationships/slide" Target="slides/slide10.xml"/><Relationship Id="rId38" Type="http://schemas.openxmlformats.org/officeDocument/2006/relationships/font" Target="fonts/Inter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7.png"/><Relationship Id="rId7" Type="http://schemas.openxmlformats.org/officeDocument/2006/relationships/image" Target="../media/image3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Relationship Id="rId11" Type="http://schemas.openxmlformats.org/officeDocument/2006/relationships/image" Target="../media/image19.png"/><Relationship Id="rId10" Type="http://schemas.openxmlformats.org/officeDocument/2006/relationships/image" Target="../media/image10.png"/><Relationship Id="rId12" Type="http://schemas.openxmlformats.org/officeDocument/2006/relationships/image" Target="../media/image22.png"/><Relationship Id="rId9" Type="http://schemas.openxmlformats.org/officeDocument/2006/relationships/image" Target="../media/image4.png"/><Relationship Id="rId5" Type="http://schemas.openxmlformats.org/officeDocument/2006/relationships/image" Target="../media/image20.png"/><Relationship Id="rId6" Type="http://schemas.openxmlformats.org/officeDocument/2006/relationships/image" Target="../media/image15.png"/><Relationship Id="rId7" Type="http://schemas.openxmlformats.org/officeDocument/2006/relationships/image" Target="../media/image1.png"/><Relationship Id="rId8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29.png"/><Relationship Id="rId5" Type="http://schemas.openxmlformats.org/officeDocument/2006/relationships/image" Target="../media/image21.png"/><Relationship Id="rId6" Type="http://schemas.openxmlformats.org/officeDocument/2006/relationships/image" Target="../media/image13.png"/><Relationship Id="rId7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23.png"/><Relationship Id="rId5" Type="http://schemas.openxmlformats.org/officeDocument/2006/relationships/image" Target="../media/image28.png"/><Relationship Id="rId6" Type="http://schemas.openxmlformats.org/officeDocument/2006/relationships/image" Target="../media/image13.png"/><Relationship Id="rId7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36.png"/><Relationship Id="rId5" Type="http://schemas.openxmlformats.org/officeDocument/2006/relationships/image" Target="../media/image26.png"/><Relationship Id="rId6" Type="http://schemas.openxmlformats.org/officeDocument/2006/relationships/image" Target="../media/image34.png"/><Relationship Id="rId7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30.png"/><Relationship Id="rId5" Type="http://schemas.openxmlformats.org/officeDocument/2006/relationships/image" Target="../media/image33.png"/><Relationship Id="rId6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23.png"/><Relationship Id="rId5" Type="http://schemas.openxmlformats.org/officeDocument/2006/relationships/image" Target="../media/image42.png"/><Relationship Id="rId6" Type="http://schemas.openxmlformats.org/officeDocument/2006/relationships/image" Target="../media/image41.png"/><Relationship Id="rId7" Type="http://schemas.openxmlformats.org/officeDocument/2006/relationships/image" Target="../media/image4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32.png"/><Relationship Id="rId5" Type="http://schemas.openxmlformats.org/officeDocument/2006/relationships/image" Target="../media/image4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48.png"/><Relationship Id="rId6" Type="http://schemas.openxmlformats.org/officeDocument/2006/relationships/image" Target="../media/image54.png"/><Relationship Id="rId7" Type="http://schemas.openxmlformats.org/officeDocument/2006/relationships/image" Target="../media/image39.png"/><Relationship Id="rId8" Type="http://schemas.openxmlformats.org/officeDocument/2006/relationships/image" Target="../media/image4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52.png"/><Relationship Id="rId10" Type="http://schemas.openxmlformats.org/officeDocument/2006/relationships/image" Target="../media/image47.png"/><Relationship Id="rId13" Type="http://schemas.openxmlformats.org/officeDocument/2006/relationships/image" Target="../media/image59.png"/><Relationship Id="rId1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49.png"/><Relationship Id="rId9" Type="http://schemas.openxmlformats.org/officeDocument/2006/relationships/image" Target="../media/image50.png"/><Relationship Id="rId5" Type="http://schemas.openxmlformats.org/officeDocument/2006/relationships/image" Target="../media/image44.png"/><Relationship Id="rId6" Type="http://schemas.openxmlformats.org/officeDocument/2006/relationships/image" Target="../media/image67.png"/><Relationship Id="rId7" Type="http://schemas.openxmlformats.org/officeDocument/2006/relationships/image" Target="../media/image55.png"/><Relationship Id="rId8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5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29.png"/><Relationship Id="rId5" Type="http://schemas.openxmlformats.org/officeDocument/2006/relationships/image" Target="../media/image72.png"/><Relationship Id="rId6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23.png"/><Relationship Id="rId9" Type="http://schemas.openxmlformats.org/officeDocument/2006/relationships/image" Target="../media/image56.png"/><Relationship Id="rId5" Type="http://schemas.openxmlformats.org/officeDocument/2006/relationships/image" Target="../media/image53.png"/><Relationship Id="rId6" Type="http://schemas.openxmlformats.org/officeDocument/2006/relationships/image" Target="../media/image64.png"/><Relationship Id="rId7" Type="http://schemas.openxmlformats.org/officeDocument/2006/relationships/image" Target="../media/image68.png"/><Relationship Id="rId8" Type="http://schemas.openxmlformats.org/officeDocument/2006/relationships/image" Target="../media/image63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62.png"/><Relationship Id="rId10" Type="http://schemas.openxmlformats.org/officeDocument/2006/relationships/image" Target="../media/image71.png"/><Relationship Id="rId12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57.png"/><Relationship Id="rId9" Type="http://schemas.openxmlformats.org/officeDocument/2006/relationships/image" Target="../media/image69.png"/><Relationship Id="rId5" Type="http://schemas.openxmlformats.org/officeDocument/2006/relationships/image" Target="../media/image60.png"/><Relationship Id="rId6" Type="http://schemas.openxmlformats.org/officeDocument/2006/relationships/image" Target="../media/image66.png"/><Relationship Id="rId7" Type="http://schemas.openxmlformats.org/officeDocument/2006/relationships/image" Target="../media/image1.png"/><Relationship Id="rId8" Type="http://schemas.openxmlformats.org/officeDocument/2006/relationships/image" Target="../media/image7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29.png"/><Relationship Id="rId5" Type="http://schemas.openxmlformats.org/officeDocument/2006/relationships/image" Target="../media/image73.png"/><Relationship Id="rId6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1805" y="3260377"/>
            <a:ext cx="8548241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608099" y="225921"/>
            <a:ext cx="897565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RECOMMENDATION SYSTEMS 101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608099" y="616446"/>
            <a:ext cx="8975653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11182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Modern RecSys Architecture: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4800" u="none" cap="none" strike="noStrike">
                <a:solidFill>
                  <a:srgbClr val="11182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From Data to Decision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821805" y="2185987"/>
            <a:ext cx="8548241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A Data Scientist's Perspective on Deep Learning Pipelines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14475"/>
            <a:ext cx="5334000" cy="4772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514475"/>
            <a:ext cx="5334000" cy="47720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962025" y="3795712"/>
            <a:ext cx="45529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355282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200900" y="3390900"/>
            <a:ext cx="6572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11827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35%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200900" y="4381500"/>
            <a:ext cx="86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11827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80%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Why Recommendation Systems?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62025" y="2128837"/>
            <a:ext cx="478059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Problem: Overload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62025" y="2805112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Users are drowning in an ocean of content. Navigation is impossible without a compass.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62025" y="4186237"/>
            <a:ext cx="4552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Goal:</a:t>
            </a:r>
            <a:r>
              <a:rPr b="0" i="0" lang="en-US" sz="15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Right Content, Right Person, Right Time.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62025" y="4872037"/>
            <a:ext cx="4553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Concept:</a:t>
            </a:r>
            <a:r>
              <a:rPr b="0" i="0" lang="en-US" sz="15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Serendipity</a:t>
            </a:r>
            <a:r>
              <a:rPr b="0" i="0" lang="en-US" sz="15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(Happy Accident - Discovery) vs </a:t>
            </a:r>
            <a:r>
              <a:rPr b="0" i="0" lang="en-US" sz="1500" u="none" cap="none" strike="noStrike">
                <a:solidFill>
                  <a:srgbClr val="10B981"/>
                </a:solidFill>
                <a:latin typeface="Roboto"/>
                <a:ea typeface="Roboto"/>
                <a:cs typeface="Roboto"/>
                <a:sym typeface="Roboto"/>
              </a:rPr>
              <a:t>Relevance</a:t>
            </a:r>
            <a:r>
              <a:rPr b="0" i="0" lang="en-US" sz="15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(Accuracy).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677025" y="2714625"/>
            <a:ext cx="478059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Business Impact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200900" y="3790950"/>
            <a:ext cx="3486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of revenue from recommendation engine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312825" y="4800600"/>
            <a:ext cx="4553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of content watched comes from recommendations</a:t>
            </a:r>
            <a:endParaRPr/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 rot="10800000">
            <a:off x="6616225" y="4491037"/>
            <a:ext cx="454976" cy="31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19462"/>
            <a:ext cx="2430660" cy="15429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4180" y="3319462"/>
            <a:ext cx="2430660" cy="15429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6860" y="3212901"/>
            <a:ext cx="2430660" cy="1756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89541" y="3319462"/>
            <a:ext cx="2430660" cy="154290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/>
          <p:nvPr/>
        </p:nvSpPr>
        <p:spPr>
          <a:xfrm>
            <a:off x="571500" y="4090987"/>
            <a:ext cx="11049000" cy="381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1691580" y="35194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4564260" y="35194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7436941" y="3412926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10309621" y="35194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The Evolution of RecSys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20759" y="3852862"/>
            <a:ext cx="213214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Gen 1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771525" y="4157662"/>
            <a:ext cx="203061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Non-Personalized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71525" y="4449067"/>
            <a:ext cx="203061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Trending, Top Sellers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3593440" y="3852862"/>
            <a:ext cx="213214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Gen 2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3644205" y="4157662"/>
            <a:ext cx="203061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Content-Based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3644205" y="4449067"/>
            <a:ext cx="203061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Item Attributes, Metadata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466120" y="3746301"/>
            <a:ext cx="213214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Gen 3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516885" y="4051101"/>
            <a:ext cx="203061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Collaborative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516885" y="4342507"/>
            <a:ext cx="203061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Matrix Factorization, User Behavior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9338801" y="3852862"/>
            <a:ext cx="213214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D4ED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Gen 4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9389566" y="4157662"/>
            <a:ext cx="203061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Deep Learning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9389566" y="4449067"/>
            <a:ext cx="203061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Neural Networks, Two-Tower, LTR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32744"/>
            <a:ext cx="3467100" cy="2935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4350" y="2432744"/>
            <a:ext cx="3505200" cy="2935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15300" y="2432744"/>
            <a:ext cx="3505200" cy="2935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728019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57725" y="2728019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48675" y="2728019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33462" y="2870894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24412" y="2870894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39175" y="2870894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Gen 1: Non-Personalized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866775" y="3585269"/>
            <a:ext cx="302037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Logic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866775" y="3975794"/>
            <a:ext cx="28765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"Best Sellers", "Trending Now". Showing the same list to everyone based on global popularity.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4657725" y="3585269"/>
            <a:ext cx="302037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Pros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4657725" y="3975794"/>
            <a:ext cx="28765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• Easy to implement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• Solves </a:t>
            </a:r>
            <a:r>
              <a:rPr b="1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Cold Start</a:t>
            </a: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problem for new users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• High traffic drivers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8448675" y="3585269"/>
            <a:ext cx="302037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8448675" y="3975794"/>
            <a:ext cx="28765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• Zero personalization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• Ignores niche preferences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• "Horror fan gets RomCom"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57362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5">
            <a:alphaModFix/>
          </a:blip>
          <a:srcRect b="17480" l="51758" r="0" t="23820"/>
          <a:stretch/>
        </p:blipFill>
        <p:spPr>
          <a:xfrm>
            <a:off x="6768500" y="1476250"/>
            <a:ext cx="4179475" cy="41573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550" y="5111948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Gen 2: Content-Based Filtering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571500" y="1871067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415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"You liked X, so you'll like Y"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571500" y="249971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Uses item metadata (Genre, Cast, Description) to find similarities.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857250" y="3347442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No User Data Needed: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Works purely on item properties.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857250" y="4208264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Explainable: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"Recommended because you watched Terminator 1".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857250" y="5069085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rPr>
              <a:t>Filter Bubble:</a:t>
            </a:r>
            <a:r>
              <a:rPr b="0" i="0" lang="en-US" sz="1650" u="none" cap="none" strike="noStrike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rPr>
              <a:t> Users get trapped in the same genre. No discovery.</a:t>
            </a:r>
            <a:endParaRPr/>
          </a:p>
        </p:txBody>
      </p:sp>
      <p:pic>
        <p:nvPicPr>
          <p:cNvPr descr="image.png" id="171" name="Google Shape;17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38554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46364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107185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57362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5">
            <a:alphaModFix/>
          </a:blip>
          <a:srcRect b="19254" l="0" r="0" t="18552"/>
          <a:stretch/>
        </p:blipFill>
        <p:spPr>
          <a:xfrm>
            <a:off x="372700" y="2346725"/>
            <a:ext cx="5238750" cy="2865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4958953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Gen 3: Collaborative Filtering (CF)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6381750" y="2022871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415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Collective Intelligence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381750" y="2651521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"People who bought this also bought that."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6667500" y="3194446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Serendipity: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Finds surprise connections you wouldn't find yourself.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6667500" y="4055268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Content Agnostic: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Doesn't need to know what the item is.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6667500" y="4916090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rPr>
              <a:t>Scalability:</a:t>
            </a:r>
            <a:r>
              <a:rPr b="0" i="0" lang="en-US" sz="1650" u="none" cap="none" strike="noStrike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rPr>
              <a:t> complexi</a:t>
            </a:r>
            <a:r>
              <a:rPr b="0" i="0" lang="en-US" sz="1650" u="none" cap="none" strike="noStrike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b="0" i="0" lang="en-US" sz="1650" u="none" cap="none" strike="noStrike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rPr>
              <a:t>y. Slow with millions of users.</a:t>
            </a:r>
            <a:endParaRPr/>
          </a:p>
        </p:txBody>
      </p:sp>
      <p:pic>
        <p:nvPicPr>
          <p:cNvPr descr="image.png" id="188" name="Google Shape;18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3232546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4093368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4954190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600450"/>
            <a:ext cx="4572000" cy="7676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558605"/>
            <a:ext cx="4572000" cy="7676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516760"/>
            <a:ext cx="4572000" cy="7676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/>
        </p:nvSpPr>
        <p:spPr>
          <a:xfrm>
            <a:off x="762000" y="762000"/>
            <a:ext cx="4800600" cy="1123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The Modern Funnel Strategy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762000" y="2076450"/>
            <a:ext cx="4800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rPr>
              <a:t>Latency vs. Accuracy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762000" y="270510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How to sort millions of items in 200ms? By cascading multiple stages.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942975" y="3743325"/>
            <a:ext cx="446055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1. Candidate Generation (Retrieval)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942975" y="3981450"/>
            <a:ext cx="42481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Fast. Millions -&gt; Thousands.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942975" y="4701480"/>
            <a:ext cx="446055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2. Scoring &amp; Ranking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942975" y="4939605"/>
            <a:ext cx="42481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Precise. Thousands -&gt; Dozens.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942975" y="5659635"/>
            <a:ext cx="446055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3. Re-Ranking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942975" y="5897760"/>
            <a:ext cx="42481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Business Logic. Dozens -&gt; Final List.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347912"/>
            <a:ext cx="5238750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60576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Stage 1: Retrieval (Candidate Gen)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571500" y="1711526"/>
            <a:ext cx="550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415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Goal: High Recall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571500" y="2389950"/>
            <a:ext cx="5500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Amaç:</a:t>
            </a:r>
            <a:r>
              <a:rPr lang="en-US" sz="150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Olası tüm ilgili adayları kaçırmadan getirmek (Recall).</a:t>
            </a:r>
            <a:endParaRPr sz="1500">
              <a:solidFill>
                <a:srgbClr val="4B556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Yöntem: </a:t>
            </a:r>
            <a:r>
              <a:rPr lang="en-US" sz="150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Deep Learning tabanlı Two-Tower Architecture.</a:t>
            </a:r>
            <a:endParaRPr sz="1500">
              <a:solidFill>
                <a:srgbClr val="4B556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Özellik:</a:t>
            </a:r>
            <a:r>
              <a:rPr lang="en-US" sz="150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Milisaniyeler içinde milyonlarca aday arasından arama.</a:t>
            </a:r>
            <a:endParaRPr sz="1500">
              <a:solidFill>
                <a:srgbClr val="4B556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6762750" y="2728912"/>
            <a:ext cx="47005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Logic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6762750" y="3357562"/>
            <a:ext cx="44767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&gt; Query: User Vector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&gt; Space: 10 Million Item Vectors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&gt; Action: Find nearest K neighbors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&gt; Time: &lt; 10ms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&gt; Result: Top 1000 Candidates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571500" y="3641526"/>
            <a:ext cx="550068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The Technology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571500" y="4022526"/>
            <a:ext cx="5238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We don't use SQL `WHERE` clauses. </a:t>
            </a:r>
            <a:endParaRPr b="0" i="0" sz="1500" u="none" cap="none" strike="noStrike">
              <a:solidFill>
                <a:srgbClr val="4B556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We use </a:t>
            </a:r>
            <a:r>
              <a:rPr b="1" i="0" lang="en-US" sz="15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Vector Databases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857250" y="4822626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Faiss</a:t>
            </a:r>
            <a:r>
              <a:rPr b="0" i="0" lang="en-US" sz="16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(Meta)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857250" y="5348287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Qdrant</a:t>
            </a:r>
            <a:endParaRPr/>
          </a:p>
        </p:txBody>
      </p:sp>
      <p:pic>
        <p:nvPicPr>
          <p:cNvPr descr="image.png" id="225" name="Google Shape;22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860726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386387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57362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041451"/>
            <a:ext cx="5238750" cy="982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214812"/>
            <a:ext cx="5238750" cy="98286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Deep Dive: Two-Tower Architecture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6381750" y="1917501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415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Independent Learning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6381750" y="2546151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The industry standard for retrieval (YouTube, Google Play).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6381750" y="5388173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Goal: Maximize dot product (similarity) in vector space.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6534150" y="3193851"/>
            <a:ext cx="518064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Left Tower (User)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6534150" y="3384351"/>
            <a:ext cx="49339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Input: History, Demographics, Geo.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Output: </a:t>
            </a:r>
            <a:r>
              <a:rPr b="1" i="0" lang="en-US" sz="12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User Embedding</a:t>
            </a:r>
            <a:r>
              <a:rPr b="0" i="0" lang="en-US" sz="12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6534150" y="4367212"/>
            <a:ext cx="518064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Right Tower (Item)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6534150" y="4557712"/>
            <a:ext cx="49339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Input: ID, Image, Text, Category.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Output: </a:t>
            </a:r>
            <a:r>
              <a:rPr b="1" i="0" lang="en-US" sz="12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Item Embedding</a:t>
            </a:r>
            <a:r>
              <a:rPr b="0" i="0" lang="en-US" sz="12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pic>
        <p:nvPicPr>
          <p:cNvPr id="243" name="Google Shape;243;p21"/>
          <p:cNvPicPr preferRelativeResize="0"/>
          <p:nvPr/>
        </p:nvPicPr>
        <p:blipFill rotWithShape="1">
          <a:blip r:embed="rId7">
            <a:alphaModFix/>
          </a:blip>
          <a:srcRect b="0" l="15142" r="22310" t="0"/>
          <a:stretch/>
        </p:blipFill>
        <p:spPr>
          <a:xfrm>
            <a:off x="440537" y="1757339"/>
            <a:ext cx="5500673" cy="3991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76450"/>
            <a:ext cx="5334000" cy="2466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76450"/>
            <a:ext cx="5334000" cy="24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2"/>
          <p:cNvSpPr txBox="1"/>
          <p:nvPr/>
        </p:nvSpPr>
        <p:spPr>
          <a:xfrm>
            <a:off x="952500" y="2457450"/>
            <a:ext cx="4572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~500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952500" y="3505200"/>
            <a:ext cx="4572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3A8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Input Candidates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952500" y="3962400"/>
            <a:ext cx="4572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From Retrieval Phase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6667500" y="2457450"/>
            <a:ext cx="4572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pCTR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6667500" y="3505200"/>
            <a:ext cx="4572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3A8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Predicted Click-Through Rate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6667500" y="3962400"/>
            <a:ext cx="4572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The Metric that Matters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Stage 2: Scoring &amp; Ranking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2286000" y="4924425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Here we use heavy, complex models (DLRM, XGBoost) because we are only scoring a small subset. The goal is pure </a:t>
            </a:r>
            <a:r>
              <a:rPr b="1" i="0" lang="en-US" sz="15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Precision</a:t>
            </a:r>
            <a:r>
              <a:rPr b="0" i="0" lang="en-US" sz="15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62665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2925" y="1572190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4350" y="1562665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4375" y="170554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48175" y="171506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77225" y="170554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Advanced: Learning to Rank (LTR)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571500" y="2419915"/>
            <a:ext cx="304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Pointwise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571500" y="2810450"/>
            <a:ext cx="3147300" cy="1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Scores each item independently. "Is this item good?" </a:t>
            </a:r>
            <a:endParaRPr b="0" i="0" sz="1350" u="none" cap="none" strike="noStrike">
              <a:solidFill>
                <a:srgbClr val="4B556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(Regression/Classification).</a:t>
            </a:r>
            <a:endParaRPr b="0" i="0" sz="1350" u="none" cap="none" strike="noStrike">
              <a:solidFill>
                <a:srgbClr val="4B556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Loss:</a:t>
            </a:r>
            <a:r>
              <a:rPr lang="en-US" sz="135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MSE (Mean Squared Error) veya Cross-entropy Loss</a:t>
            </a:r>
            <a:endParaRPr sz="1350">
              <a:solidFill>
                <a:srgbClr val="4B556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4B556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23"/>
          <p:cNvSpPr txBox="1"/>
          <p:nvPr/>
        </p:nvSpPr>
        <p:spPr>
          <a:xfrm>
            <a:off x="4352925" y="2429440"/>
            <a:ext cx="304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Pairwise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4352925" y="2819975"/>
            <a:ext cx="3147300" cy="15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Industry Standard.</a:t>
            </a: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Compares pairs: "Is Item A better than Item B?" (RankNet, LambdaMART).</a:t>
            </a:r>
            <a:endParaRPr sz="1350">
              <a:solidFill>
                <a:srgbClr val="4B556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Loss: </a:t>
            </a:r>
            <a:r>
              <a:rPr lang="en-US" sz="135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BPR (Bayesian Personalized Ranking) veya Hinge Loss</a:t>
            </a:r>
            <a:endParaRPr sz="1350">
              <a:solidFill>
                <a:srgbClr val="4B556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8134350" y="2419915"/>
            <a:ext cx="304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Listwise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8134350" y="2810475"/>
            <a:ext cx="31473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Optimizes the entire list order at once. Maximizes NDCG directly. Computationally expensive.</a:t>
            </a:r>
            <a:endParaRPr b="0" i="0" sz="1350" u="none" cap="none" strike="noStrike">
              <a:solidFill>
                <a:srgbClr val="4B556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Loss: </a:t>
            </a:r>
            <a:r>
              <a:rPr lang="en-US" sz="135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Soft-Max Cross Entropy</a:t>
            </a:r>
            <a:endParaRPr sz="1350">
              <a:solidFill>
                <a:srgbClr val="4B556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23"/>
          <p:cNvSpPr txBox="1"/>
          <p:nvPr/>
        </p:nvSpPr>
        <p:spPr>
          <a:xfrm>
            <a:off x="365400" y="4793975"/>
            <a:ext cx="74733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en-US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yaygın kullanım: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LambdaMART 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en-US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Loss Function Amacı: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Eğer A ve B öğelerinin yerini değiştirirsem, listenin toplam kalitesi (NDCG) ne kadar artar?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XGBoost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LightGBM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modülleriyle kullanılabilir.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1" name="Google Shape;28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2" name="Google Shape;282;p24"/>
          <p:cNvGraphicFramePr/>
          <p:nvPr/>
        </p:nvGraphicFramePr>
        <p:xfrm>
          <a:off x="571500" y="22145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{94EBA1FE-682A-4ED1-B0BA-56CC9D6B8CC2}</a:tableStyleId>
              </a:tblPr>
              <a:tblGrid>
                <a:gridCol w="2759875"/>
                <a:gridCol w="3863725"/>
                <a:gridCol w="4415875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7415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Feature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7415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Description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7415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Example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B556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Dense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B556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Continuous numerical values.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B556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Age, Watch Time, Price, Video Duration.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B556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Sparse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B556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Categorical IDs with high cardinality.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B556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Video_ID, User_ID, Genre, Country.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563E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Cross Features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B556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Captures non-linear interactions between features.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B556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(User=Mobile) x (Content=Shorts)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350" u="none" cap="none" strike="noStrike">
                          <a:solidFill>
                            <a:srgbClr val="4B556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b="0" i="0" lang="en-US" sz="1350" u="none" cap="none" strike="noStrike">
                          <a:solidFill>
                            <a:srgbClr val="4B556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    (Time=Morning) x (Content=News)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3" name="Google Shape;283;p24"/>
          <p:cNvSpPr/>
          <p:nvPr/>
        </p:nvSpPr>
        <p:spPr>
          <a:xfrm>
            <a:off x="576262" y="3409950"/>
            <a:ext cx="275986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3336131" y="3409950"/>
            <a:ext cx="386372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7199858" y="3409950"/>
            <a:ext cx="441587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576262" y="4000500"/>
            <a:ext cx="275986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3336131" y="4000500"/>
            <a:ext cx="386372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7199858" y="4000500"/>
            <a:ext cx="441587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The Magic: Feature Engineering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571500" y="509111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"The model doesn't just know who you are; it learns context through cross features."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5" name="Google Shape;29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32670"/>
            <a:ext cx="2547937" cy="2661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87" y="3032670"/>
            <a:ext cx="2547937" cy="2661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3032670"/>
            <a:ext cx="2547937" cy="2661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2562" y="3032670"/>
            <a:ext cx="2547937" cy="2661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3327945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00462" y="3327945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3327945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67837" y="3327945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9650" y="347082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95712" y="347082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77025" y="347082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510712" y="347082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5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Stage 3: Re-Ranking &amp; Business Logic</a:t>
            </a:r>
            <a:endParaRPr/>
          </a:p>
        </p:txBody>
      </p:sp>
      <p:sp>
        <p:nvSpPr>
          <p:cNvPr id="309" name="Google Shape;309;p25"/>
          <p:cNvSpPr txBox="1"/>
          <p:nvPr/>
        </p:nvSpPr>
        <p:spPr>
          <a:xfrm>
            <a:off x="571500" y="2316509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The raw model output isn't always the best user experience. We apply business rules.</a:t>
            </a:r>
            <a:endParaRPr/>
          </a:p>
        </p:txBody>
      </p:sp>
      <p:sp>
        <p:nvSpPr>
          <p:cNvPr id="310" name="Google Shape;310;p25"/>
          <p:cNvSpPr txBox="1"/>
          <p:nvPr/>
        </p:nvSpPr>
        <p:spPr>
          <a:xfrm>
            <a:off x="866775" y="4185195"/>
            <a:ext cx="205525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Diversity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866775" y="4575720"/>
            <a:ext cx="1957387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Don't show 10 red shirts in a row. Shuffle similar items.</a:t>
            </a:r>
            <a:endParaRPr/>
          </a:p>
        </p:txBody>
      </p:sp>
      <p:sp>
        <p:nvSpPr>
          <p:cNvPr id="312" name="Google Shape;312;p25"/>
          <p:cNvSpPr txBox="1"/>
          <p:nvPr/>
        </p:nvSpPr>
        <p:spPr>
          <a:xfrm>
            <a:off x="3700462" y="4185195"/>
            <a:ext cx="205525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Inventory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3700462" y="4575720"/>
            <a:ext cx="1957387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Filter out out-of-stock items or expired content.</a:t>
            </a:r>
            <a:endParaRPr/>
          </a:p>
        </p:txBody>
      </p:sp>
      <p:sp>
        <p:nvSpPr>
          <p:cNvPr id="314" name="Google Shape;314;p25"/>
          <p:cNvSpPr txBox="1"/>
          <p:nvPr/>
        </p:nvSpPr>
        <p:spPr>
          <a:xfrm>
            <a:off x="6534150" y="4185195"/>
            <a:ext cx="205525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Freshness</a:t>
            </a:r>
            <a:endParaRPr/>
          </a:p>
        </p:txBody>
      </p:sp>
      <p:sp>
        <p:nvSpPr>
          <p:cNvPr id="315" name="Google Shape;315;p25"/>
          <p:cNvSpPr txBox="1"/>
          <p:nvPr/>
        </p:nvSpPr>
        <p:spPr>
          <a:xfrm>
            <a:off x="6534150" y="4575720"/>
            <a:ext cx="1957387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Boost new content to ensure the system doesn't become stale.</a:t>
            </a:r>
            <a:endParaRPr/>
          </a:p>
        </p:txBody>
      </p:sp>
      <p:sp>
        <p:nvSpPr>
          <p:cNvPr id="316" name="Google Shape;316;p25"/>
          <p:cNvSpPr txBox="1"/>
          <p:nvPr/>
        </p:nvSpPr>
        <p:spPr>
          <a:xfrm>
            <a:off x="9367837" y="4185195"/>
            <a:ext cx="205525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Bias/Safety</a:t>
            </a:r>
            <a:endParaRPr/>
          </a:p>
        </p:txBody>
      </p:sp>
      <p:sp>
        <p:nvSpPr>
          <p:cNvPr id="317" name="Google Shape;317;p25"/>
          <p:cNvSpPr txBox="1"/>
          <p:nvPr/>
        </p:nvSpPr>
        <p:spPr>
          <a:xfrm>
            <a:off x="9367837" y="4575720"/>
            <a:ext cx="1957387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Remove sensitive or inappropriate content regardless of score.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2" name="Google Shape;32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14475"/>
            <a:ext cx="11049000" cy="477202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6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Offline Metrics (Lab)</a:t>
            </a:r>
            <a:endParaRPr/>
          </a:p>
        </p:txBody>
      </p:sp>
      <p:sp>
        <p:nvSpPr>
          <p:cNvPr id="325" name="Google Shape;325;p26"/>
          <p:cNvSpPr txBox="1"/>
          <p:nvPr/>
        </p:nvSpPr>
        <p:spPr>
          <a:xfrm>
            <a:off x="571500" y="46529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We test models on historical "Hold-out" data before they ever see a real user.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0" name="Google Shape;33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57362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766887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7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Online Metrics (Production)</a:t>
            </a:r>
            <a:endParaRPr/>
          </a:p>
        </p:txBody>
      </p:sp>
      <p:sp>
        <p:nvSpPr>
          <p:cNvPr id="334" name="Google Shape;334;p27"/>
          <p:cNvSpPr txBox="1"/>
          <p:nvPr/>
        </p:nvSpPr>
        <p:spPr>
          <a:xfrm>
            <a:off x="571500" y="2134790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415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A/B Testing</a:t>
            </a:r>
            <a:endParaRPr/>
          </a:p>
        </p:txBody>
      </p:sp>
      <p:sp>
        <p:nvSpPr>
          <p:cNvPr id="335" name="Google Shape;335;p27"/>
          <p:cNvSpPr txBox="1"/>
          <p:nvPr/>
        </p:nvSpPr>
        <p:spPr>
          <a:xfrm>
            <a:off x="571500" y="276344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The moment of truth. Comparing Model A vs Model B on live traffic.</a:t>
            </a:r>
            <a:endParaRPr/>
          </a:p>
        </p:txBody>
      </p:sp>
      <p:sp>
        <p:nvSpPr>
          <p:cNvPr id="336" name="Google Shape;336;p27"/>
          <p:cNvSpPr txBox="1"/>
          <p:nvPr/>
        </p:nvSpPr>
        <p:spPr>
          <a:xfrm>
            <a:off x="857250" y="3754040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CTR (Click-Through Rate):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Simple engagement.</a:t>
            </a:r>
            <a:endParaRPr/>
          </a:p>
        </p:txBody>
      </p:sp>
      <p:sp>
        <p:nvSpPr>
          <p:cNvPr id="337" name="Google Shape;337;p27"/>
          <p:cNvSpPr txBox="1"/>
          <p:nvPr/>
        </p:nvSpPr>
        <p:spPr>
          <a:xfrm>
            <a:off x="857250" y="4279701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Conversion Rate: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Purchase or Watch Completion.</a:t>
            </a:r>
            <a:endParaRPr/>
          </a:p>
        </p:txBody>
      </p:sp>
      <p:sp>
        <p:nvSpPr>
          <p:cNvPr id="338" name="Google Shape;338;p27"/>
          <p:cNvSpPr txBox="1"/>
          <p:nvPr/>
        </p:nvSpPr>
        <p:spPr>
          <a:xfrm>
            <a:off x="857250" y="4805362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Time Spent</a:t>
            </a:r>
            <a:r>
              <a:rPr b="1" i="0" lang="en-US" sz="16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Time spent</a:t>
            </a:r>
            <a:r>
              <a:rPr lang="en-US" sz="165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in the session</a:t>
            </a:r>
            <a:r>
              <a:rPr b="0" i="0" lang="en-US" sz="16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pic>
        <p:nvPicPr>
          <p:cNvPr descr="image.png" id="339" name="Google Shape;339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9214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17801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843462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6" name="Google Shape;34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57362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18407"/>
            <a:ext cx="5238750" cy="7981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007072"/>
            <a:ext cx="5238750" cy="7981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0" name="Google Shape;350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3995737"/>
            <a:ext cx="5238750" cy="7981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4984402"/>
            <a:ext cx="5238750" cy="7981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1766887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8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The Engineering Backbone</a:t>
            </a:r>
            <a:endParaRPr/>
          </a:p>
        </p:txBody>
      </p:sp>
      <p:sp>
        <p:nvSpPr>
          <p:cNvPr id="354" name="Google Shape;354;p28"/>
          <p:cNvSpPr txBox="1"/>
          <p:nvPr/>
        </p:nvSpPr>
        <p:spPr>
          <a:xfrm>
            <a:off x="6572250" y="2161282"/>
            <a:ext cx="515064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Big Data</a:t>
            </a:r>
            <a:endParaRPr/>
          </a:p>
        </p:txBody>
      </p:sp>
      <p:sp>
        <p:nvSpPr>
          <p:cNvPr id="355" name="Google Shape;355;p28"/>
          <p:cNvSpPr txBox="1"/>
          <p:nvPr/>
        </p:nvSpPr>
        <p:spPr>
          <a:xfrm>
            <a:off x="6572250" y="2399407"/>
            <a:ext cx="4905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/>
          </a:p>
        </p:txBody>
      </p:sp>
      <p:sp>
        <p:nvSpPr>
          <p:cNvPr id="356" name="Google Shape;356;p28"/>
          <p:cNvSpPr txBox="1"/>
          <p:nvPr/>
        </p:nvSpPr>
        <p:spPr>
          <a:xfrm>
            <a:off x="6572250" y="3149947"/>
            <a:ext cx="515064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Modeling</a:t>
            </a:r>
            <a:endParaRPr/>
          </a:p>
        </p:txBody>
      </p:sp>
      <p:sp>
        <p:nvSpPr>
          <p:cNvPr id="357" name="Google Shape;357;p28"/>
          <p:cNvSpPr txBox="1"/>
          <p:nvPr/>
        </p:nvSpPr>
        <p:spPr>
          <a:xfrm>
            <a:off x="6572250" y="3388072"/>
            <a:ext cx="4905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Python  (Sklearn, </a:t>
            </a: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PyTorch, TensorFlow)</a:t>
            </a:r>
            <a:endParaRPr/>
          </a:p>
        </p:txBody>
      </p:sp>
      <p:sp>
        <p:nvSpPr>
          <p:cNvPr id="358" name="Google Shape;358;p28"/>
          <p:cNvSpPr txBox="1"/>
          <p:nvPr/>
        </p:nvSpPr>
        <p:spPr>
          <a:xfrm>
            <a:off x="6572250" y="4138612"/>
            <a:ext cx="515064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Serving</a:t>
            </a:r>
            <a:endParaRPr/>
          </a:p>
        </p:txBody>
      </p:sp>
      <p:sp>
        <p:nvSpPr>
          <p:cNvPr id="359" name="Google Shape;359;p28"/>
          <p:cNvSpPr txBox="1"/>
          <p:nvPr/>
        </p:nvSpPr>
        <p:spPr>
          <a:xfrm>
            <a:off x="6572250" y="4376737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Redis (Feature Store), FAISS (Vector DB)</a:t>
            </a:r>
            <a:endParaRPr/>
          </a:p>
        </p:txBody>
      </p:sp>
      <p:sp>
        <p:nvSpPr>
          <p:cNvPr id="360" name="Google Shape;360;p28"/>
          <p:cNvSpPr txBox="1"/>
          <p:nvPr/>
        </p:nvSpPr>
        <p:spPr>
          <a:xfrm>
            <a:off x="6572250" y="5127277"/>
            <a:ext cx="515064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Pipeline</a:t>
            </a:r>
            <a:endParaRPr/>
          </a:p>
        </p:txBody>
      </p:sp>
      <p:sp>
        <p:nvSpPr>
          <p:cNvPr id="361" name="Google Shape;361;p28"/>
          <p:cNvSpPr txBox="1"/>
          <p:nvPr/>
        </p:nvSpPr>
        <p:spPr>
          <a:xfrm>
            <a:off x="6572250" y="5365402"/>
            <a:ext cx="4905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Apache Airflow, </a:t>
            </a:r>
            <a:r>
              <a:rPr lang="en-US" sz="135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Docker, Kubernetes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6" name="Google Shape;36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32744"/>
            <a:ext cx="3492549" cy="2935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32744"/>
            <a:ext cx="3492549" cy="2935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9" name="Google Shape;369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32744"/>
            <a:ext cx="3492549" cy="2935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0" name="Google Shape;370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728019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728019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2" name="Google Shape;372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728019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3" name="Google Shape;373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33462" y="2870894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4" name="Google Shape;374;p2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11762" y="2870894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5" name="Google Shape;375;p2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66249" y="2870894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9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Key Challenges</a:t>
            </a:r>
            <a:endParaRPr/>
          </a:p>
        </p:txBody>
      </p:sp>
      <p:sp>
        <p:nvSpPr>
          <p:cNvPr id="377" name="Google Shape;377;p29"/>
          <p:cNvSpPr txBox="1"/>
          <p:nvPr/>
        </p:nvSpPr>
        <p:spPr>
          <a:xfrm>
            <a:off x="866775" y="3585269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Cold Start</a:t>
            </a:r>
            <a:endParaRPr/>
          </a:p>
        </p:txBody>
      </p:sp>
      <p:sp>
        <p:nvSpPr>
          <p:cNvPr id="378" name="Google Shape;378;p29"/>
          <p:cNvSpPr txBox="1"/>
          <p:nvPr/>
        </p:nvSpPr>
        <p:spPr>
          <a:xfrm>
            <a:off x="866775" y="3975794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New users or items have no interaction history.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Solution: Fallback to non-personalized or content-based.</a:t>
            </a:r>
            <a:endParaRPr/>
          </a:p>
        </p:txBody>
      </p:sp>
      <p:sp>
        <p:nvSpPr>
          <p:cNvPr id="379" name="Google Shape;379;p29"/>
          <p:cNvSpPr txBox="1"/>
          <p:nvPr/>
        </p:nvSpPr>
        <p:spPr>
          <a:xfrm>
            <a:off x="4645074" y="3585269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Sparsity</a:t>
            </a:r>
            <a:endParaRPr/>
          </a:p>
        </p:txBody>
      </p:sp>
      <p:sp>
        <p:nvSpPr>
          <p:cNvPr id="380" name="Google Shape;380;p29"/>
          <p:cNvSpPr txBox="1"/>
          <p:nvPr/>
        </p:nvSpPr>
        <p:spPr>
          <a:xfrm>
            <a:off x="4645074" y="3975794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Matrix is 99% empty. Hard to find patterns.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Solution: Embeddings / Deep Learning.</a:t>
            </a:r>
            <a:endParaRPr/>
          </a:p>
        </p:txBody>
      </p:sp>
      <p:sp>
        <p:nvSpPr>
          <p:cNvPr id="381" name="Google Shape;381;p29"/>
          <p:cNvSpPr txBox="1"/>
          <p:nvPr/>
        </p:nvSpPr>
        <p:spPr>
          <a:xfrm>
            <a:off x="8423374" y="3585269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Feedback Loops</a:t>
            </a:r>
            <a:endParaRPr/>
          </a:p>
        </p:txBody>
      </p:sp>
      <p:sp>
        <p:nvSpPr>
          <p:cNvPr id="382" name="Google Shape;382;p29"/>
          <p:cNvSpPr txBox="1"/>
          <p:nvPr/>
        </p:nvSpPr>
        <p:spPr>
          <a:xfrm>
            <a:off x="8423374" y="3975794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Model only suggests what it knows, creating an echo chamber.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Solution: Exploration strategies.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7" name="Google Shape;38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8" name="Google Shape;38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57362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9" name="Google Shape;389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766887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0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The Future of RecSys</a:t>
            </a:r>
            <a:endParaRPr/>
          </a:p>
        </p:txBody>
      </p:sp>
      <p:sp>
        <p:nvSpPr>
          <p:cNvPr id="391" name="Google Shape;391;p30"/>
          <p:cNvSpPr txBox="1"/>
          <p:nvPr/>
        </p:nvSpPr>
        <p:spPr>
          <a:xfrm>
            <a:off x="571500" y="1895772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415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Beyond Static Lists</a:t>
            </a:r>
            <a:endParaRPr/>
          </a:p>
        </p:txBody>
      </p:sp>
      <p:sp>
        <p:nvSpPr>
          <p:cNvPr id="392" name="Google Shape;392;p30"/>
          <p:cNvSpPr txBox="1"/>
          <p:nvPr/>
        </p:nvSpPr>
        <p:spPr>
          <a:xfrm>
            <a:off x="571500" y="2524422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The future is conversational, generative, and real-time.</a:t>
            </a:r>
            <a:endParaRPr/>
          </a:p>
        </p:txBody>
      </p:sp>
      <p:sp>
        <p:nvSpPr>
          <p:cNvPr id="393" name="Google Shape;393;p30"/>
          <p:cNvSpPr txBox="1"/>
          <p:nvPr/>
        </p:nvSpPr>
        <p:spPr>
          <a:xfrm>
            <a:off x="571500" y="5409902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"Good technology is invisible. It just understands you."</a:t>
            </a:r>
            <a:endParaRPr/>
          </a:p>
        </p:txBody>
      </p:sp>
      <p:sp>
        <p:nvSpPr>
          <p:cNvPr id="394" name="Google Shape;394;p30"/>
          <p:cNvSpPr txBox="1"/>
          <p:nvPr/>
        </p:nvSpPr>
        <p:spPr>
          <a:xfrm>
            <a:off x="857250" y="3067347"/>
            <a:ext cx="49530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Generative AI: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LLMs creating recommendations through natural conversation ("Suggest a movie for a rainy Tuesday").</a:t>
            </a:r>
            <a:endParaRPr/>
          </a:p>
        </p:txBody>
      </p:sp>
      <p:sp>
        <p:nvSpPr>
          <p:cNvPr id="395" name="Google Shape;395;p30"/>
          <p:cNvSpPr txBox="1"/>
          <p:nvPr/>
        </p:nvSpPr>
        <p:spPr>
          <a:xfrm>
            <a:off x="857250" y="4263330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Session-Based: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Reacting to your mood in the last 5 seconds, not just the last 5 months.</a:t>
            </a:r>
            <a:endParaRPr/>
          </a:p>
        </p:txBody>
      </p:sp>
      <p:pic>
        <p:nvPicPr>
          <p:cNvPr descr="image.png" id="396" name="Google Shape;396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0544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7" name="Google Shape;397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01430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